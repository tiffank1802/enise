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Good morning. I am Kevin Tongue, a 5th-year student at Centrale Lyon-ENISE. I am honored to present my candidacy for the MAD-SIM project.</a:t>
            </a:r>
          </a:p>
          <a:p/>
          <a:p>
            <a:r>
              <a:t>Context: Mention the consortium immediately: Albi (experimental), St-Étienne (materials), LUT (numerical).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internship as 'Phase 0'. You are arriving with the tools already in hand. Mention Dang Van to show you understand complex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Strong Value. Connect the 'Land of Curious' (LUT motto) with your desire to build actionable industrial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  <a:latin typeface="Arial"/>
              </a:defRPr>
            </a:pPr>
            <a:r>
              <a:t>PhD Interview: MAD-SIM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34155"/>
                </a:solidFill>
                <a:latin typeface="Arial"/>
              </a:defRPr>
            </a:pPr>
            <a:r>
              <a:t>Kevin TONGUE</a:t>
            </a:r>
          </a:p>
          <a:p>
            <a:r>
              <a:t>Modelling powder flows in agitated devices</a:t>
            </a:r>
          </a:p>
          <a:p/>
          <a:p>
            <a:r>
              <a:t>IMT Mines Albi | LUT University | École des Mines de Saint-Étienne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3366"/>
                </a:solidFill>
                <a:latin typeface="Arial"/>
              </a:defRPr>
            </a:pPr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Academic Background: Training &amp; expertise in numerical mechanics.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Research Experience: From fatigue analysis to granular segregation.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Understanding the Topic: The challenge of powder rheology.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Vision 2026-2029: A 3-year roadmap.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Profile Match: Skills &amp; Motivations.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3366"/>
                </a:solidFill>
                <a:latin typeface="Arial"/>
              </a:defRPr>
            </a:pPr>
            <a:r>
              <a:t>Academic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400">
                <a:solidFill>
                  <a:srgbClr val="003366"/>
                </a:solidFill>
              </a:defRPr>
            </a:pPr>
            <a:r>
              <a:t>Centrale Lyon - ENISE</a:t>
            </a:r>
          </a:p>
          <a:p>
            <a:pPr>
              <a:defRPr sz="2000"/>
            </a:pPr>
            <a:r>
              <a:t>Engineering Degree: Mechanical Engineering (Design &amp; Simulation).</a:t>
            </a:r>
          </a:p>
          <a:p>
            <a:pPr>
              <a:defRPr sz="2000"/>
            </a:pPr>
            <a:r>
              <a:t>Master 2 Research: Numerical Solid Mechanics.</a:t>
            </a:r>
          </a:p>
          <a:p>
            <a:pPr lvl="1">
              <a:defRPr i="1"/>
            </a:pPr>
            <a:r>
              <a:t>Developed expertise in multi-scale modeling, multiphysics coupling, and digital twins.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3366"/>
                </a:solidFill>
                <a:latin typeface="Arial"/>
              </a:defRPr>
            </a:pPr>
            <a:r>
              <a:t>Research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003366"/>
                </a:solidFill>
              </a:defRPr>
            </a:pPr>
            <a:r>
              <a:t>Fatigue Analysis (Current)</a:t>
            </a:r>
          </a:p>
          <a:p>
            <a:pPr>
              <a:defRPr sz="1800"/>
            </a:pPr>
            <a:r>
              <a:t>Optimization of the Dang Van criterion for industrial structures under complex loading.</a:t>
            </a:r>
          </a:p>
          <a:p>
            <a:pPr lvl="1">
              <a:defRPr i="1"/>
            </a:pPr>
            <a:r>
              <a:t>Skill: Validating numerical models against real constraints.</a:t>
            </a:r>
          </a:p>
          <a:p/>
          <a:p>
            <a:pPr>
              <a:defRPr b="1">
                <a:solidFill>
                  <a:srgbClr val="003366"/>
                </a:solidFill>
              </a:defRPr>
            </a:pPr>
            <a:r>
              <a:t>The 'Stepping Stone' (March 2026)</a:t>
            </a:r>
          </a:p>
          <a:p>
            <a:pPr>
              <a:defRPr sz="1800"/>
            </a:pPr>
            <a:r>
              <a:t>Internship: Granular Segregation via Markov Chains.</a:t>
            </a:r>
          </a:p>
          <a:p>
            <a:pPr lvl="1">
              <a:defRPr i="1"/>
            </a:pPr>
            <a:r>
              <a:t>Skill: Starting the PhD with a solid foundation in DEM and segregation physics.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3366"/>
                </a:solidFill>
                <a:latin typeface="Arial"/>
              </a:defRPr>
            </a:pPr>
            <a:r>
              <a:t>Understanding the MAD-SIM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003366"/>
                </a:solidFill>
              </a:defRPr>
            </a:pPr>
            <a:r>
              <a:t>Systemic Powder Rheology</a:t>
            </a:r>
          </a:p>
          <a:p>
            <a:pPr>
              <a:defRPr sz="2000"/>
            </a:pPr>
            <a:r>
              <a:t>Powders oscillate between solid, fluid, and gas states. Industrial sizing is currently too empirical.</a:t>
            </a:r>
          </a:p>
          <a:p>
            <a:pPr lvl="1"/>
            <a:r>
              <a:t>Goal: Rationalize agitation operations.</a:t>
            </a:r>
          </a:p>
          <a:p>
            <a:pPr lvl="1"/>
            <a:r>
              <a:t>Method: Use pilot as a systemic rheometer.</a:t>
            </a:r>
          </a:p>
          <a:p>
            <a:pPr lvl="1"/>
            <a:r>
              <a:t>Result: Identify invariant law μ(I) linking micro-collisions to macro-flow.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22860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[Insert Image from Thesis Subject Page 2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3366"/>
                </a:solidFill>
                <a:latin typeface="Arial"/>
              </a:defRPr>
            </a:pPr>
            <a:r>
              <a:t>Vision for the Three-Year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003366"/>
                </a:solidFill>
              </a:defRPr>
            </a:pPr>
            <a:r>
              <a:t>Year 1: Albi (Breaking the 'Black Box')</a:t>
            </a:r>
          </a:p>
          <a:p>
            <a:pPr lvl="1"/>
            <a:r>
              <a:t>Physical observations on 9L pilot &amp; initial DEM simulations.</a:t>
            </a:r>
          </a:p>
          <a:p>
            <a:pPr>
              <a:defRPr b="1">
                <a:solidFill>
                  <a:srgbClr val="003366"/>
                </a:solidFill>
              </a:defRPr>
            </a:pPr>
            <a:r>
              <a:t>Year 2: Finland (International Immersion)</a:t>
            </a:r>
          </a:p>
          <a:p>
            <a:pPr lvl="1"/>
            <a:r>
              <a:t>Advanced CFD &amp; Numerical Methods at LUT University (Prof. Hämäläinen).</a:t>
            </a:r>
          </a:p>
          <a:p>
            <a:pPr>
              <a:defRPr b="1">
                <a:solidFill>
                  <a:srgbClr val="003366"/>
                </a:solidFill>
              </a:defRPr>
            </a:pPr>
            <a:r>
              <a:t>Year 3: Validation (Actionability)</a:t>
            </a:r>
          </a:p>
          <a:p>
            <a:pPr lvl="1"/>
            <a:r>
              <a:t>Experimental validation &amp; Industrial scale-up.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3366"/>
                </a:solidFill>
                <a:latin typeface="Arial"/>
              </a:defRPr>
            </a:pPr>
            <a:r>
              <a:t>International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Collaboration with LUT University (Finland)</a:t>
            </a:r>
          </a:p>
          <a:p>
            <a:pPr/>
            <a:r>
              <a:t>The project leverages the expertise of the School of Engineering Sciences.</a:t>
            </a:r>
          </a:p>
          <a:p>
            <a:pPr/>
            <a:r>
              <a:t>Under Prof. Jari Hämäläinen, I will master cutting-edge CFD methods to bridge the gap between granular physics and industrial simulation.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27432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[Insert LUT Campus Image]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3366"/>
                </a:solidFill>
                <a:latin typeface="Arial"/>
              </a:defRPr>
            </a:pPr>
            <a:r>
              <a:t>A Profile at the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Key Skills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Tools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Solid Mechanics, Granular 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DEM, CFD, FEM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Numerical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Scientific Computing, 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Python, C++, Fortran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Data Analysis, Digital Twins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Matlab (Certified), Simulink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Experimental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Industrial Pragmatism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Fablab, Maintenance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3366"/>
                </a:solidFill>
                <a:latin typeface="Arial"/>
              </a:defRPr>
            </a:pPr>
            <a:r>
              <a:t>Actionability through Curiosity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Goal: Develop Digital Twins for the pharmaceutical industry.</a:t>
            </a:r>
          </a:p>
          <a:p/>
          <a:p>
            <a:pPr algn="ctr">
              <a:defRPr sz="3200" i="1">
                <a:solidFill>
                  <a:srgbClr val="334155"/>
                </a:solidFill>
              </a:defRPr>
            </a:pPr>
            <a:r>
              <a:t>"Walker, there is no path. The path is made by walking."</a:t>
            </a:r>
          </a:p>
          <a:p>
            <a:pPr algn="r">
              <a:defRPr sz="2400">
                <a:solidFill>
                  <a:srgbClr val="FFD700"/>
                </a:solidFill>
              </a:defRPr>
            </a:pPr>
            <a:r>
              <a:t>— Herbert Simon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003366"/>
                </a:solidFill>
                <a:latin typeface="Arial"/>
              </a:defRPr>
            </a:pPr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ctr">
              <a:defRPr sz="2400"/>
            </a:pPr>
            <a:r>
              <a:t>Thank you for your time and attention.</a:t>
            </a:r>
          </a:p>
          <a:p>
            <a:pPr algn="ctr">
              <a:defRPr b="1" sz="2000"/>
            </a:pPr>
            <a:r>
              <a:t>Kevin TONGUE</a:t>
            </a:r>
          </a:p>
          <a:p>
            <a:pPr algn="ctr">
              <a:defRPr sz="1800"/>
            </a:pPr>
            <a:r>
              <a:t>tonguekevin00@gmail.com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